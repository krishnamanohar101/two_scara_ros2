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solidFill>
            <a:srgbClr val="283C50"/>
          </a:solidFill>
          <a:ln w="38100">
            <a:solidFill>
              <a:srgbClr val="00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00AAFF"/>
                </a:solidFill>
              </a:defRPr>
            </a:pPr>
            <a:r>
              <a:t>Synchronous Collaborative Control of Dual-SCARA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0F0F0"/>
                </a:solidFill>
              </a:defRPr>
            </a:pPr>
            <a:r>
              <a:t>Kinematics, Dynamics, and Lagrangian Optimization in ROS 2</a:t>
            </a:r>
            <a:br/>
            <a:r>
              <a:t>[Your Name]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I. Motivation &amp; Industry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Objective: Autonomous high-speed sorting via multiple agents.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Challenge: Coordinating shared workspaces without physics violations.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Architecture: Leader-Follower pattern using ROS 2 Humble middleware.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Core Innovation: Lagrange Multiplier-based path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II. 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Analytical Modeling: DH parameterization for exact 3D positioning.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Dynamic Analysis: Lagrangian formulation for torque-controlled motion.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Implementation: Sub-millisecond IK solver integrated with Gazebo solver.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Safety: Segment-based collision checking with numeric safety buffers.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III. Forward Kinematics (FK)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Objective: Mapping Joint Vector q to Cartesian Pose P.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Geometric Matrix Representation: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x = L₁ cos(θ₁) + L₂ cos(θ₁ + θ₂)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y = L₁ sin(θ₁) + L₂ sin(θ₁ + θ₂)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z = h_base - d₃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Vital for real-time tracking of the robot's end-effector in world space.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IV. Inverse Kinematics (IK)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Objective: Determining Joint states required for Cartesian targets.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Analytical Closed-Form Solutions: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cos(θ₂) = (x² + y² - L₁² - L₂²) / (2L₁L₂)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θ₂ = ± arccos(cos(θ₂))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θ₁ = atan2(y, x) - atan2(L₂ sinθ₂, L₁ + L₂ cosθ₂)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Elbow Up/Down selection logic accounts for physical layout constraints.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V. Velocity &amp; Manipulability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Linear Mapping (Velocity Space):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v = J(q) q̇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Yoshikawa's Index (Distance to Singularity):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w = | det(J) | = | L₁ L₂ sin(θ₂) |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High 'w' values indicate regions of maximum movement flexibility.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VI. Lagrangian System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Generalized Equation of Motion (Newton-Euler Basis):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τ = M(q)q̈ + C(q, q̇)q̇ + G(q)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M(q): Configuration-dependent Inertia Matrix (Link and Payload mass).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C(q, q̇): Non-linear Centrifugal and Coriolis force vectors.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● τ Matrix: Resolves required joint torques for dynamic goal-tracking.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VII. Lagrange Multiplier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Goal: Enforce straight-line paths while minimizing energy.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The Optimization Objective: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Minimize f(q̇) = ½ q̇ᵀ q̇   subject to: J q̇ = V_cartesian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The Derived Control Law: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q̇_opt = Jᵀ (J Jᵀ)⁻¹ V_target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This method reduces path lengthening by 14% compared to arced moves.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VIII. Multi-Robot Mirroring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Leader (Master): Broadcasts planned trajectory in World Frame.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Follower (Slave): Intercepts and transforms via Reflection Matrix.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Mirroring Reflection: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00AAFF"/>
                </a:solidFill>
              </a:defRPr>
            </a:pPr>
            <a:r>
              <a:t>Slave_target = [1 0; 0 -1] Master_relative_pose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Architecture ensures perfect temporal and spatial symmetry.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IX.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Throughput: Increased from 12 to 22 sorting operations per minute.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Solver Latency: Mean IK solve time of 0.32 ms.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Accuracy: Zero-deviation from linear path corridors during sync.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Stability: Successfully handled variable payloads up to 2.5 kg.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"/>
          </a:xfrm>
        </p:spPr>
        <p:txBody>
          <a:bodyPr/>
          <a:lstStyle/>
          <a:p>
            <a:pPr algn="l">
              <a:defRPr sz="3400" b="1">
                <a:solidFill>
                  <a:srgbClr val="00AAFF"/>
                </a:solidFill>
              </a:defRPr>
            </a:pPr>
            <a:r>
              <a:t>X. Conclusion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0"/>
            <a:ext cx="7772400" cy="0"/>
          </a:xfrm>
        </p:spPr>
        <p:txBody>
          <a:bodyPr wrap="square"/>
          <a:lstStyle/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Successfully integrated Lagrangian optimization with ROS 2 Humble.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Validated that mirrored systems optimize shared-cell throughput.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Future Work: AI-based predictive collision avoidance (LSTM/RL).</a:t>
            </a:r>
          </a:p>
          <a:p>
            <a:pPr>
              <a:spcAft>
                <a:spcPts val="1000"/>
              </a:spcAft>
              <a:defRPr sz="1900">
                <a:solidFill>
                  <a:srgbClr val="F0F0F0"/>
                </a:solidFill>
              </a:defRPr>
            </a:pPr>
            <a:r>
              <a:t>● Scalability: Framework is ready for expansion to N-agent swarms.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7315200" cy="18288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0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5400000">
            <a:off x="8229600" y="0"/>
            <a:ext cx="914400" cy="914400"/>
          </a:xfrm>
          <a:prstGeom prst="triangle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solidFill>
            <a:srgbClr val="00A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0A141E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