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BA1E2"/>
                </a:solidFill>
              </a:defRPr>
            </a:pPr>
            <a:r>
              <a:t>Synchronous Collaborative Control of Dual-SCARA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E0E1DD"/>
                </a:solidFill>
              </a:defRPr>
            </a:pPr>
            <a:r>
              <a:t>A Lagrangian Dynamics and Optimization-Based Approach</a:t>
            </a:r>
          </a:p>
          <a:p/>
          <a:p>
            <a:r>
              <a:t>Research &amp; Implementation Framework</a:t>
            </a:r>
          </a:p>
          <a:p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>
              <a:defRPr sz="3600" b="1">
                <a:solidFill>
                  <a:srgbClr val="1BA1E2"/>
                </a:solidFill>
              </a:defRPr>
            </a:pPr>
            <a:r>
              <a:t>I. Introduction &amp; Industrial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Modern Manufacturing: High-cycle sorting and precision assembly.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SCARA Units: Ideal for planar compliance and vertical rigidity.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Collaborative Leverage: Utilizing dual robots to double effective throughput.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Research Focus: Achieving zero-latency mirroring and optimized linear paths.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18288"/>
          </a:xfrm>
          <a:prstGeom prst="rect">
            <a:avLst/>
          </a:prstGeom>
          <a:solidFill>
            <a:srgbClr val="415A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>
              <a:defRPr sz="3600" b="1">
                <a:solidFill>
                  <a:srgbClr val="1BA1E2"/>
                </a:solidFill>
              </a:defRPr>
            </a:pPr>
            <a:r>
              <a:t>II. Critical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Synchronization Lag: Communication bottlenecks in Master-Slave relay.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Trajectory Arcing: Natural joint interpolation creates nonlinear arcs.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Workplace Safety: Collision risks in shared zones during high-speed sync.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Mathematical Mapping: Heterogeneous base offsets in global world frames.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18288"/>
          </a:xfrm>
          <a:prstGeom prst="rect">
            <a:avLst/>
          </a:prstGeom>
          <a:solidFill>
            <a:srgbClr val="415A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>
              <a:defRPr sz="3600" b="1">
                <a:solidFill>
                  <a:srgbClr val="1BA1E2"/>
                </a:solidFill>
              </a:defRPr>
            </a:pPr>
            <a:r>
              <a:t>III. 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Modeling: Derive full Lagrangian EOM and Analytical IK.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Control: Implement leader-follower synchronous reflection logic.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Optimization: Solve constrained trajectory via Lagrange Multipliers.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Validation: High-fidelity sub-millisecond physics in Gazebo/ROS 2.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18288"/>
          </a:xfrm>
          <a:prstGeom prst="rect">
            <a:avLst/>
          </a:prstGeom>
          <a:solidFill>
            <a:srgbClr val="415A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>
              <a:defRPr sz="3600" b="1">
                <a:solidFill>
                  <a:srgbClr val="1BA1E2"/>
                </a:solidFill>
              </a:defRPr>
            </a:pPr>
            <a:r>
              <a:t>IV. Forward &amp; Inverse Kinematics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Forward Kinematics (FK):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x = L1 cos(θ1) + L2 cos(θ1 + θ2)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y = L1 sin(θ1) + L2 sin(θ1 + θ2)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Inverse Kinematics (AIK):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θ2 = arccos((x² + y² - L1² - L2²) / (2L1L2))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θ1 = atan2(y, x) - atan2(L2 sinθ2, L1 + L2 cosθ2)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18288"/>
          </a:xfrm>
          <a:prstGeom prst="rect">
            <a:avLst/>
          </a:prstGeom>
          <a:solidFill>
            <a:srgbClr val="415A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>
              <a:defRPr sz="3600" b="1">
                <a:solidFill>
                  <a:srgbClr val="1BA1E2"/>
                </a:solidFill>
              </a:defRPr>
            </a:pPr>
            <a:r>
              <a:t>V. Jacobian &amp; Singularity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Jacobian Matrix Relationship: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v = J(q) q̇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Singularity Condition: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det(J) = L1 L2 sin(θ2) = 0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Optimized Solution (DLS Pseudo-inverse):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J† = Jᵀ (JJᵀ + k²I)⁻¹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18288"/>
          </a:xfrm>
          <a:prstGeom prst="rect">
            <a:avLst/>
          </a:prstGeom>
          <a:solidFill>
            <a:srgbClr val="415A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>
              <a:defRPr sz="3600" b="1">
                <a:solidFill>
                  <a:srgbClr val="1BA1E2"/>
                </a:solidFill>
              </a:defRPr>
            </a:pPr>
            <a:r>
              <a:t>VI. Lagrangian System Dynamics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Equations of Motion: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τ = M(q)q̈ + C(q, q̇)q̇ + G(q)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M(q): Mass/Inertia Matrix deriving dynamic link coupling.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C(q, q̇): Coriolis and Centrifugal force vectors.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G(q): Gravity vector (Prismatic joint compensation only).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18288"/>
          </a:xfrm>
          <a:prstGeom prst="rect">
            <a:avLst/>
          </a:prstGeom>
          <a:solidFill>
            <a:srgbClr val="415A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>
              <a:defRPr sz="3600" b="1">
                <a:solidFill>
                  <a:srgbClr val="1BA1E2"/>
                </a:solidFill>
              </a:defRPr>
            </a:pPr>
            <a:r>
              <a:t>VII. Trajectory Optimization (MIS)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Objective: Minimize f(q̇) = ½ q̇ᵀ q̇  (Joint Velocity Norm)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Constraint: J q̇ - v_desired = 0  (Linear Cartesian Path)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Lagrange Solution: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q̇* = Jᵀ(JJᵀ)⁻¹ v_target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This ensures perfectly straight motion with minimal energy consumption.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18288"/>
          </a:xfrm>
          <a:prstGeom prst="rect">
            <a:avLst/>
          </a:prstGeom>
          <a:solidFill>
            <a:srgbClr val="415A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>
              <a:defRPr sz="3600" b="1">
                <a:solidFill>
                  <a:srgbClr val="1BA1E2"/>
                </a:solidFill>
              </a:defRPr>
            </a:pPr>
            <a:r>
              <a:t>VIII. Synchronous Mirroring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Master Node: Solves task and broadcasts Cartesian targets.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Replication Manager: Intercepts and transforms targets.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Mirroring Reflection Matrix:</a:t>
            </a:r>
          </a:p>
          <a:p>
            <a:pPr algn="ctr">
              <a:spcAft>
                <a:spcPts val="1000"/>
              </a:spcAft>
              <a:defRPr sz="2400" b="1">
                <a:solidFill>
                  <a:srgbClr val="1BA1E2"/>
                </a:solidFill>
              </a:defRPr>
            </a:pPr>
            <a:r>
              <a:t>P_slave = [1 0; 0 -1] P_master_rel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Ensures perfect geometric symmetry relative to conveyor centerline.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18288"/>
          </a:xfrm>
          <a:prstGeom prst="rect">
            <a:avLst/>
          </a:prstGeom>
          <a:solidFill>
            <a:srgbClr val="415A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>
              <a:defRPr sz="3600" b="1">
                <a:solidFill>
                  <a:srgbClr val="1BA1E2"/>
                </a:solidFill>
              </a:defRPr>
            </a:pPr>
            <a:r>
              <a:t>IX. ROS 2 / Gazebo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Loop Frequency: 100 Hz (Real-time trajectory publishing).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Physics Loop: 1000 Hz (High-fidelity contact simulation).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Communication: ROS 2 Humble logic gates &amp; action servers.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Control: Position-based PID with Lagrangian feed-forward terms.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18288"/>
          </a:xfrm>
          <a:prstGeom prst="rect">
            <a:avLst/>
          </a:prstGeom>
          <a:solidFill>
            <a:srgbClr val="415A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>
              <a:defRPr sz="3600" b="1">
                <a:solidFill>
                  <a:srgbClr val="1BA1E2"/>
                </a:solidFill>
              </a:defRPr>
            </a:pPr>
            <a:r>
              <a:t>X. Experimental Validation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IK Solver Latency: 0.32 ms (Avg).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Linear Path Error: &lt; 0.001 m (Numerical precision match).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Throughput: Increased from 12 to 22 blocks/minute (+83%).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Capture Success: 98.5% in collaborative handover trials.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18288"/>
          </a:xfrm>
          <a:prstGeom prst="rect">
            <a:avLst/>
          </a:prstGeom>
          <a:solidFill>
            <a:srgbClr val="415A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>
              <a:defRPr sz="3600" b="1">
                <a:solidFill>
                  <a:srgbClr val="1BA1E2"/>
                </a:solidFill>
              </a:defRPr>
            </a:pPr>
            <a:r>
              <a:t>XI. Conclusion &amp; Significance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Proved that Lagrangian optimization yields safer industrial paths.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Mirrored systems provide immediate horizontal scaling for sorting.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MIS Unit-1 Principles (Lagrange) successfully applied to real robotics.</a:t>
            </a:r>
          </a:p>
          <a:p>
            <a:pPr>
              <a:spcAft>
                <a:spcPts val="1000"/>
              </a:spcAft>
              <a:defRPr sz="2000">
                <a:solidFill>
                  <a:srgbClr val="E0E1DD"/>
                </a:solidFill>
              </a:defRPr>
            </a:pPr>
            <a:r>
              <a:t>● Framework is scalable to N-robot swarm coordination.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7772400" cy="18288"/>
          </a:xfrm>
          <a:prstGeom prst="rect">
            <a:avLst/>
          </a:prstGeom>
          <a:solidFill>
            <a:srgbClr val="415A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>
                <a:solidFill>
                  <a:srgbClr val="1BA1E2"/>
                </a:solidFill>
              </a:defRPr>
            </a:pPr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E0E1DD"/>
                </a:solidFill>
              </a:defRPr>
            </a:pPr>
            <a:r>
              <a:t>Questions &amp; Discussions</a:t>
            </a:r>
          </a:p>
          <a:p/>
          <a:p>
            <a:r>
              <a:t>Contact: [Your Email]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